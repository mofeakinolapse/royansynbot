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positioning this as an introduction to the approach, not a final product specification.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Atiat already has the ecosystem story; our role is to explore how digital access can make that story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Emphasize: SynBot is not being proposed as just a chatbot. It is the intelligence and orchestration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subsidiaries and state that this is a working hypothesis to validate.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one concrete example: insurance or POF. Focus on the end-to-end journey.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SynBot should sit above existing operational systems and connect to them through controlled integrations.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Briefly explain RAG as Retrieval-Augmented Generation: grounded answers from approved company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key ask: discovery sessions with each relevant team before architecture is finalized.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Qantra as a potential technology/infrastructure partner boundary, not an internal competitor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we intend to start narrow, prove value, then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transitions into the actual client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vision, then invite the client to validate or challenge the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8075"/>
                </a:solidFill>
                <a:latin typeface="Aptos"/>
              </a:rPr>
              <a:t>SYNBOT × ATIAT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325880"/>
            <a:ext cx="9875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8FAFC"/>
                </a:solidFill>
                <a:latin typeface="Aptos"/>
              </a:rPr>
              <a:t>Building the intelligent</a:t>
            </a:r>
            <a:br/>
            <a:r>
              <a:t>layer for the Atiat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97180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2CFDC"/>
                </a:solidFill>
                <a:latin typeface="Aptos"/>
              </a:rPr>
              <a:t>A discovery-led approach to customer journeys, digital services, automation and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3977639"/>
            <a:ext cx="4251960" cy="329184"/>
          </a:xfrm>
          <a:prstGeom prst="roundRect">
            <a:avLst/>
          </a:prstGeom>
          <a:solidFill>
            <a:srgbClr val="43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005072"/>
            <a:ext cx="4251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DISCOVERY • ALIGNMENT • DESIGN •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9893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6A5B4"/>
                </a:solidFill>
                <a:latin typeface="Aptos"/>
              </a:rPr>
              <a:t>Client discussion brief  |  02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6A5B4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92330"/>
                </a:solidFill>
                <a:latin typeface="Aptos"/>
              </a:rPr>
              <a:t>Why this conversation, and 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977"/>
                </a:solidFill>
                <a:latin typeface="Aptos"/>
              </a:rPr>
              <a:t>Atiat is already positioned as an integrated ecosystem — the opportunity is to make that experience digital and connected.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64008" cy="3383280"/>
          </a:xfrm>
          <a:prstGeom prst="rect">
            <a:avLst/>
          </a:prstGeom>
          <a:solidFill>
            <a:srgbClr val="238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85623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330"/>
                </a:solidFill>
                <a:latin typeface="Aptos"/>
              </a:rPr>
              <a:t>One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258568"/>
            <a:ext cx="3108960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977"/>
                </a:solidFill>
                <a:latin typeface="Aptos"/>
              </a:rPr>
              <a:t>Finance, mobility, insurance, technology and related services are presented as connected offerings.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91640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91640"/>
            <a:ext cx="64008" cy="3383280"/>
          </a:xfrm>
          <a:prstGeom prst="rect">
            <a:avLst/>
          </a:prstGeom>
          <a:solidFill>
            <a:srgbClr val="43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85623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330"/>
                </a:solidFill>
                <a:latin typeface="Aptos"/>
              </a:rPr>
              <a:t>One customer journey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258568"/>
            <a:ext cx="3108960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977"/>
                </a:solidFill>
                <a:latin typeface="Aptos"/>
              </a:rPr>
              <a:t>Customers should not need to understand which subsidiary owns a service before they can access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691640"/>
            <a:ext cx="64008" cy="3383280"/>
          </a:xfrm>
          <a:prstGeom prst="rect">
            <a:avLst/>
          </a:prstGeom>
          <a:solidFill>
            <a:srgbClr val="D3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85623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330"/>
                </a:solidFill>
                <a:latin typeface="Aptos"/>
              </a:rPr>
              <a:t>One intelligent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258568"/>
            <a:ext cx="3108960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977"/>
                </a:solidFill>
                <a:latin typeface="Aptos"/>
              </a:rPr>
              <a:t>SynBot can sit across the ecosystem to guide, automate and orchestrate interactions.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577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92330"/>
                </a:solidFill>
                <a:latin typeface="Aptos"/>
              </a:rPr>
              <a:t>Public Atiat positioning: “One Platform, Limitless Possibilities.”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D6977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What we are proposing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CAD7"/>
                </a:solidFill>
                <a:latin typeface="Aptos"/>
              </a:rPr>
              <a:t>Not another chatbot. A digital access and intelligence layer that can grow with Atiat.</a:t>
            </a:r>
          </a:p>
        </p:txBody>
      </p:sp>
      <p:sp>
        <p:nvSpPr>
          <p:cNvPr id="4" name="Oval 3"/>
          <p:cNvSpPr/>
          <p:nvPr/>
        </p:nvSpPr>
        <p:spPr>
          <a:xfrm>
            <a:off x="4892040" y="1874519"/>
            <a:ext cx="2423160" cy="2423160"/>
          </a:xfrm>
          <a:prstGeom prst="ellipse">
            <a:avLst/>
          </a:prstGeom>
          <a:solidFill>
            <a:srgbClr val="238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38928" y="2560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F8FAFC"/>
                </a:solidFill>
                <a:latin typeface="Aptos"/>
              </a:rPr>
              <a:t>SYNBOT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2286000" cy="1143000"/>
          </a:xfrm>
          <a:prstGeom prst="roundRect">
            <a:avLst/>
          </a:prstGeom>
          <a:solidFill>
            <a:srgbClr val="182A40"/>
          </a:solidFill>
          <a:ln>
            <a:solidFill>
              <a:srgbClr val="304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64008" cy="1143000"/>
          </a:xfrm>
          <a:prstGeom prst="rect">
            <a:avLst/>
          </a:prstGeom>
          <a:solidFill>
            <a:srgbClr val="43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019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Customer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160520"/>
            <a:ext cx="2286000" cy="1143000"/>
          </a:xfrm>
          <a:prstGeom prst="roundRect">
            <a:avLst/>
          </a:prstGeom>
          <a:solidFill>
            <a:srgbClr val="182A40"/>
          </a:solidFill>
          <a:ln>
            <a:solidFill>
              <a:srgbClr val="304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4160520"/>
            <a:ext cx="64008" cy="1143000"/>
          </a:xfrm>
          <a:prstGeom prst="rect">
            <a:avLst/>
          </a:prstGeom>
          <a:solidFill>
            <a:srgbClr val="D3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43251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AI + automation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737360"/>
            <a:ext cx="2286000" cy="1143000"/>
          </a:xfrm>
          <a:prstGeom prst="roundRect">
            <a:avLst/>
          </a:prstGeom>
          <a:solidFill>
            <a:srgbClr val="182A40"/>
          </a:solidFill>
          <a:ln>
            <a:solidFill>
              <a:srgbClr val="304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1737360"/>
            <a:ext cx="64008" cy="1143000"/>
          </a:xfrm>
          <a:prstGeom prst="rect">
            <a:avLst/>
          </a:prstGeom>
          <a:solidFill>
            <a:srgbClr val="238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45168" y="19019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Enterprise workflows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4160520"/>
            <a:ext cx="2286000" cy="1143000"/>
          </a:xfrm>
          <a:prstGeom prst="roundRect">
            <a:avLst/>
          </a:prstGeom>
          <a:solidFill>
            <a:srgbClr val="182A40"/>
          </a:solidFill>
          <a:ln>
            <a:solidFill>
              <a:srgbClr val="304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0" y="4160520"/>
            <a:ext cx="64008" cy="1143000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5168" y="43251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Data + integrations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71500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DD8E3"/>
                </a:solidFill>
                <a:latin typeface="Aptos"/>
              </a:rPr>
              <a:t>The core idea: make complex services feel simple to the customer while preserving the systems and controls underneath.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6A5B4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92330"/>
                </a:solidFill>
                <a:latin typeface="Aptos"/>
              </a:rPr>
              <a:t>The ecosystem we intend to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977"/>
                </a:solidFill>
                <a:latin typeface="Aptos"/>
              </a:rPr>
              <a:t>Initial scope hypothesis — to be confirmed with Atiat teams.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64008" cy="1417320"/>
          </a:xfrm>
          <a:prstGeom prst="rect">
            <a:avLst/>
          </a:prstGeom>
          <a:solidFill>
            <a:srgbClr val="238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9339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330"/>
                </a:solidFill>
                <a:latin typeface="Aptos"/>
              </a:rPr>
              <a:t>FINANCE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395728"/>
            <a:ext cx="17830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977"/>
                </a:solidFill>
                <a:latin typeface="Aptos"/>
              </a:rPr>
              <a:t>Financing • leasing • POF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82880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71800" y="1828800"/>
            <a:ext cx="64008" cy="1417320"/>
          </a:xfrm>
          <a:prstGeom prst="rect">
            <a:avLst/>
          </a:prstGeom>
          <a:solidFill>
            <a:srgbClr val="43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2968" y="199339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330"/>
                </a:solidFill>
                <a:latin typeface="Aptos"/>
              </a:rPr>
              <a:t>MOBILITY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2395728"/>
            <a:ext cx="17830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977"/>
                </a:solidFill>
                <a:latin typeface="Aptos"/>
              </a:rPr>
              <a:t>Rides • rentals • fleet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82880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0" y="1828800"/>
            <a:ext cx="64008" cy="1417320"/>
          </a:xfrm>
          <a:prstGeom prst="rect">
            <a:avLst/>
          </a:prstGeom>
          <a:solidFill>
            <a:srgbClr val="D3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04688" y="199339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330"/>
                </a:solidFill>
                <a:latin typeface="Aptos"/>
              </a:rPr>
              <a:t>INSURANCE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04688" y="2395728"/>
            <a:ext cx="17830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977"/>
                </a:solidFill>
                <a:latin typeface="Aptos"/>
              </a:rPr>
              <a:t>Quotes • policies • claims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82880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1828800"/>
            <a:ext cx="64008" cy="1417320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36408" y="199339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330"/>
                </a:solidFill>
                <a:latin typeface="Aptos"/>
              </a:rPr>
              <a:t>OURCAR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2395728"/>
            <a:ext cx="17830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977"/>
                </a:solidFill>
                <a:latin typeface="Aptos"/>
              </a:rPr>
              <a:t>Sales • service • vehicles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406908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0" y="4069080"/>
            <a:ext cx="64008" cy="1417320"/>
          </a:xfrm>
          <a:prstGeom prst="rect">
            <a:avLst/>
          </a:prstGeom>
          <a:solidFill>
            <a:srgbClr val="238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9968" y="423367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330"/>
                </a:solidFill>
                <a:latin typeface="Aptos"/>
              </a:rPr>
              <a:t>ENERGY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9968" y="4636008"/>
            <a:ext cx="17830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977"/>
                </a:solidFill>
                <a:latin typeface="Aptos"/>
              </a:rPr>
              <a:t>Solutions • projects • support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406908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4069080"/>
            <a:ext cx="64008" cy="1417320"/>
          </a:xfrm>
          <a:prstGeom prst="rect">
            <a:avLst/>
          </a:prstGeom>
          <a:solidFill>
            <a:srgbClr val="43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423367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330"/>
                </a:solidFill>
                <a:latin typeface="Aptos"/>
              </a:rPr>
              <a:t>QANTRA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4636008"/>
            <a:ext cx="17830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977"/>
                </a:solidFill>
                <a:latin typeface="Aptos"/>
              </a:rPr>
              <a:t>Technology • infrastructure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89788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92330"/>
                </a:solidFill>
                <a:latin typeface="Aptos"/>
              </a:rPr>
              <a:t>The first design question is not “what should the app look like?” — it is “what should a customer be able to accomplish end-to-end?”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D6977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From services to journeys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CAD7"/>
                </a:solidFill>
                <a:latin typeface="Aptos"/>
              </a:rPr>
              <a:t>We will design around outcomes, not departmental screens.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5257800" cy="1554480"/>
          </a:xfrm>
          <a:prstGeom prst="roundRect">
            <a:avLst/>
          </a:prstGeom>
          <a:solidFill>
            <a:srgbClr val="182A40"/>
          </a:solidFill>
          <a:ln>
            <a:solidFill>
              <a:srgbClr val="304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64008" cy="1554480"/>
          </a:xfrm>
          <a:prstGeom prst="rect">
            <a:avLst/>
          </a:prstGeom>
          <a:solidFill>
            <a:srgbClr val="238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85623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RIDE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258568"/>
            <a:ext cx="489204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8E3"/>
                </a:solidFill>
                <a:latin typeface="Aptos"/>
              </a:rPr>
              <a:t>Request → quote → book → pay → ride → receipt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91640"/>
            <a:ext cx="5257800" cy="1554480"/>
          </a:xfrm>
          <a:prstGeom prst="roundRect">
            <a:avLst/>
          </a:prstGeom>
          <a:solidFill>
            <a:srgbClr val="182A40"/>
          </a:solidFill>
          <a:ln>
            <a:solidFill>
              <a:srgbClr val="304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691640"/>
            <a:ext cx="64008" cy="1554480"/>
          </a:xfrm>
          <a:prstGeom prst="rect">
            <a:avLst/>
          </a:prstGeom>
          <a:solidFill>
            <a:srgbClr val="43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185623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INSURANCE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258568"/>
            <a:ext cx="489204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8E3"/>
                </a:solidFill>
                <a:latin typeface="Aptos"/>
              </a:rPr>
              <a:t>Need → assess → quote → documents → pay → policy → claim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657600"/>
            <a:ext cx="5257800" cy="1554480"/>
          </a:xfrm>
          <a:prstGeom prst="roundRect">
            <a:avLst/>
          </a:prstGeom>
          <a:solidFill>
            <a:srgbClr val="182A40"/>
          </a:solidFill>
          <a:ln>
            <a:solidFill>
              <a:srgbClr val="304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657600"/>
            <a:ext cx="64008" cy="1554480"/>
          </a:xfrm>
          <a:prstGeom prst="rect">
            <a:avLst/>
          </a:prstGeom>
          <a:solidFill>
            <a:srgbClr val="D3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822191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FINANCE / POF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224528"/>
            <a:ext cx="489204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8E3"/>
                </a:solidFill>
                <a:latin typeface="Aptos"/>
              </a:rPr>
              <a:t>Request → eligibility → documents → verification → approval → delivery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657600"/>
            <a:ext cx="5257800" cy="1554480"/>
          </a:xfrm>
          <a:prstGeom prst="roundRect">
            <a:avLst/>
          </a:prstGeom>
          <a:solidFill>
            <a:srgbClr val="182A40"/>
          </a:solidFill>
          <a:ln>
            <a:solidFill>
              <a:srgbClr val="304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3657600"/>
            <a:ext cx="64008" cy="1554480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3822191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VEHICLE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4224528"/>
            <a:ext cx="489204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8E3"/>
                </a:solidFill>
                <a:latin typeface="Aptos"/>
              </a:rPr>
              <a:t>Discover → finance → purchase → insure → service →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DD8E3"/>
                </a:solidFill>
                <a:latin typeface="Aptos"/>
              </a:rPr>
              <a:t>Every journey becomes a candidate for digital self-service, assisted service or AI-powered workflow.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6A5B4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92330"/>
                </a:solidFill>
                <a:latin typeface="Aptos"/>
              </a:rPr>
              <a:t>How SynBot would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977"/>
                </a:solidFill>
                <a:latin typeface="Aptos"/>
              </a:rPr>
              <a:t>AI sits above the operational systems — it does not need to replace them.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20240"/>
            <a:ext cx="2057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64008" cy="2331720"/>
          </a:xfrm>
          <a:prstGeom prst="rect">
            <a:avLst/>
          </a:prstGeom>
          <a:solidFill>
            <a:srgbClr val="238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08483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330"/>
                </a:solidFill>
                <a:latin typeface="Aptos"/>
              </a:rPr>
              <a:t>UNDERSTAND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487168"/>
            <a:ext cx="1691640" cy="161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977"/>
                </a:solidFill>
                <a:latin typeface="Aptos"/>
              </a:rPr>
              <a:t>Customer intent +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5544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6977"/>
                </a:solidFill>
                <a:latin typeface="Aptos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1920240"/>
            <a:ext cx="2057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39" y="1920240"/>
            <a:ext cx="64008" cy="2331720"/>
          </a:xfrm>
          <a:prstGeom prst="rect">
            <a:avLst/>
          </a:prstGeom>
          <a:solidFill>
            <a:srgbClr val="43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208483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330"/>
                </a:solidFill>
                <a:latin typeface="Aptos"/>
              </a:rPr>
              <a:t>ORCHESTRATE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487168"/>
            <a:ext cx="1691640" cy="161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977"/>
                </a:solidFill>
                <a:latin typeface="Aptos"/>
              </a:rPr>
              <a:t>Choose the right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15544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6977"/>
                </a:solidFill>
                <a:latin typeface="Aptos"/>
              </a:rP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1920240"/>
            <a:ext cx="2057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66359" y="1920240"/>
            <a:ext cx="64008" cy="2331720"/>
          </a:xfrm>
          <a:prstGeom prst="rect">
            <a:avLst/>
          </a:prstGeom>
          <a:solidFill>
            <a:srgbClr val="D3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7527" y="208483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330"/>
                </a:solidFill>
                <a:latin typeface="Aptos"/>
              </a:rPr>
              <a:t>CONNECT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7" y="2487168"/>
            <a:ext cx="1691640" cy="161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977"/>
                </a:solidFill>
                <a:latin typeface="Aptos"/>
              </a:rPr>
              <a:t>APIs, systems, documents, payments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1" y="15544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6977"/>
                </a:solidFill>
                <a:latin typeface="Aptos"/>
              </a:rP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920240"/>
            <a:ext cx="2057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1920240"/>
            <a:ext cx="64008" cy="2331720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208483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330"/>
                </a:solidFill>
                <a:latin typeface="Aptos"/>
              </a:rPr>
              <a:t>EXECUTE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487168"/>
            <a:ext cx="1691640" cy="161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977"/>
                </a:solidFill>
                <a:latin typeface="Aptos"/>
              </a:rPr>
              <a:t>Complete or route the transaction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1" y="15544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6977"/>
                </a:solidFill>
                <a:latin typeface="Aptos"/>
              </a:rP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1920240"/>
            <a:ext cx="2057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29800" y="1920240"/>
            <a:ext cx="64008" cy="2331720"/>
          </a:xfrm>
          <a:prstGeom prst="rect">
            <a:avLst/>
          </a:prstGeom>
          <a:solidFill>
            <a:srgbClr val="238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30968" y="208483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330"/>
                </a:solidFill>
                <a:latin typeface="Aptos"/>
              </a:rPr>
              <a:t>ASSURE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30968" y="2487168"/>
            <a:ext cx="1691640" cy="161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977"/>
                </a:solidFill>
                <a:latin typeface="Aptos"/>
              </a:rPr>
              <a:t>Audit, notify, escalate, learn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94392" y="15544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6977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983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D6977"/>
                </a:solidFill>
                <a:latin typeface="Aptos"/>
              </a:rPr>
              <a:t>Example: “I want to insure my car.” → identify customer → identify vehicle → collect missing information → retrieve eligible products → quote → payment → policy issuance.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D6977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92330"/>
                </a:solidFill>
                <a:latin typeface="Aptos"/>
              </a:rPr>
              <a:t>Where AI adds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977"/>
                </a:solidFill>
                <a:latin typeface="Aptos"/>
              </a:rPr>
              <a:t>The intelligence layer can grow progressively; we do not need to automate everything on day 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64008" cy="1691640"/>
          </a:xfrm>
          <a:prstGeom prst="rect">
            <a:avLst/>
          </a:prstGeom>
          <a:solidFill>
            <a:srgbClr val="238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6479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330"/>
                </a:solidFill>
                <a:latin typeface="Aptos"/>
              </a:rPr>
              <a:t>CONVERSATIONAL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167128"/>
            <a:ext cx="306324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977"/>
                </a:solidFill>
                <a:latin typeface="Aptos"/>
              </a:rPr>
              <a:t>Natural-language access to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0020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600200"/>
            <a:ext cx="64008" cy="1691640"/>
          </a:xfrm>
          <a:prstGeom prst="rect">
            <a:avLst/>
          </a:prstGeom>
          <a:solidFill>
            <a:srgbClr val="43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76479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330"/>
                </a:solidFill>
                <a:latin typeface="Aptos"/>
              </a:rPr>
              <a:t>DOCUMENT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167128"/>
            <a:ext cx="306324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977"/>
                </a:solidFill>
                <a:latin typeface="Aptos"/>
              </a:rPr>
              <a:t>Extract, validate and classify forms and supporting documents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0020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600200"/>
            <a:ext cx="64008" cy="1691640"/>
          </a:xfrm>
          <a:prstGeom prst="rect">
            <a:avLst/>
          </a:prstGeom>
          <a:solidFill>
            <a:srgbClr val="D3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176479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330"/>
                </a:solidFill>
                <a:latin typeface="Aptos"/>
              </a:rPr>
              <a:t>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2167128"/>
            <a:ext cx="306324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977"/>
                </a:solidFill>
                <a:latin typeface="Aptos"/>
              </a:rPr>
              <a:t>Retrieval-Augmented Generation: grounded answers from approved knowledge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749039"/>
            <a:ext cx="64008" cy="1691640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913631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330"/>
                </a:solidFill>
                <a:latin typeface="Aptos"/>
              </a:rPr>
              <a:t>WORKFLOW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315968"/>
            <a:ext cx="306324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977"/>
                </a:solidFill>
                <a:latin typeface="Aptos"/>
              </a:rPr>
              <a:t>Multi-step tasks, follow-ups and exception handling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749039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3749039"/>
            <a:ext cx="64008" cy="1691640"/>
          </a:xfrm>
          <a:prstGeom prst="rect">
            <a:avLst/>
          </a:prstGeom>
          <a:solidFill>
            <a:srgbClr val="238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8" y="3913631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330"/>
                </a:solidFill>
                <a:latin typeface="Aptos"/>
              </a:rPr>
              <a:t>DECISION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4315968"/>
            <a:ext cx="306324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977"/>
                </a:solidFill>
                <a:latin typeface="Aptos"/>
              </a:rPr>
              <a:t>Recommendations, eligibility signals and operational insights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749039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749039"/>
            <a:ext cx="64008" cy="1691640"/>
          </a:xfrm>
          <a:prstGeom prst="rect">
            <a:avLst/>
          </a:prstGeom>
          <a:solidFill>
            <a:srgbClr val="43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0768" y="3913631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330"/>
                </a:solidFill>
                <a:latin typeface="Aptos"/>
              </a:rPr>
              <a:t>INTERNAL COPILOTS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4315968"/>
            <a:ext cx="306324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977"/>
                </a:solidFill>
                <a:latin typeface="Aptos"/>
              </a:rPr>
              <a:t>Assist staff with search, summaries and workflow 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D6977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Before we build: discovery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CAD7"/>
                </a:solidFill>
                <a:latin typeface="Aptos"/>
              </a:rPr>
              <a:t>Our first engagement is designed to understand Atiat’s reality, not impose a technology solution.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5257800" cy="1143000"/>
          </a:xfrm>
          <a:prstGeom prst="roundRect">
            <a:avLst/>
          </a:prstGeom>
          <a:solidFill>
            <a:srgbClr val="182A40"/>
          </a:solidFill>
          <a:ln>
            <a:solidFill>
              <a:srgbClr val="304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64008" cy="1143000"/>
          </a:xfrm>
          <a:prstGeom prst="rect">
            <a:avLst/>
          </a:prstGeom>
          <a:solidFill>
            <a:srgbClr val="238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73351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75688"/>
            <a:ext cx="4892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8E3"/>
                </a:solidFill>
                <a:latin typeface="Aptos"/>
              </a:rPr>
              <a:t>Map subsidiaries, products, customers and revenue 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257800" cy="1143000"/>
          </a:xfrm>
          <a:prstGeom prst="roundRect">
            <a:avLst/>
          </a:prstGeom>
          <a:solidFill>
            <a:srgbClr val="182A40"/>
          </a:solidFill>
          <a:ln>
            <a:solidFill>
              <a:srgbClr val="304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508760"/>
            <a:ext cx="64008" cy="1143000"/>
          </a:xfrm>
          <a:prstGeom prst="rect">
            <a:avLst/>
          </a:prstGeom>
          <a:solidFill>
            <a:srgbClr val="43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1673351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2075688"/>
            <a:ext cx="4892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8E3"/>
                </a:solidFill>
                <a:latin typeface="Aptos"/>
              </a:rPr>
              <a:t>Shadow teams and document how work is actually performed.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26080"/>
            <a:ext cx="5257800" cy="1143000"/>
          </a:xfrm>
          <a:prstGeom prst="roundRect">
            <a:avLst/>
          </a:prstGeom>
          <a:solidFill>
            <a:srgbClr val="182A40"/>
          </a:solidFill>
          <a:ln>
            <a:solidFill>
              <a:srgbClr val="304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926080"/>
            <a:ext cx="64008" cy="1143000"/>
          </a:xfrm>
          <a:prstGeom prst="rect">
            <a:avLst/>
          </a:prstGeom>
          <a:solidFill>
            <a:srgbClr val="D3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09067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3493008"/>
            <a:ext cx="4892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8E3"/>
                </a:solidFill>
                <a:latin typeface="Aptos"/>
              </a:rPr>
              <a:t>Identify applications, databases, APIs, documents and dependencies.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926080"/>
            <a:ext cx="5257800" cy="1143000"/>
          </a:xfrm>
          <a:prstGeom prst="roundRect">
            <a:avLst/>
          </a:prstGeom>
          <a:solidFill>
            <a:srgbClr val="182A40"/>
          </a:solidFill>
          <a:ln>
            <a:solidFill>
              <a:srgbClr val="304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926080"/>
            <a:ext cx="64008" cy="1143000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8" y="309067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PAIN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3493008"/>
            <a:ext cx="4892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8E3"/>
                </a:solidFill>
                <a:latin typeface="Aptos"/>
              </a:rPr>
              <a:t>Find delays, repetitive work, handoffs and customer friction.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343400"/>
            <a:ext cx="5257800" cy="1143000"/>
          </a:xfrm>
          <a:prstGeom prst="roundRect">
            <a:avLst/>
          </a:prstGeom>
          <a:solidFill>
            <a:srgbClr val="182A40"/>
          </a:solidFill>
          <a:ln>
            <a:solidFill>
              <a:srgbClr val="304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343400"/>
            <a:ext cx="64008" cy="1143000"/>
          </a:xfrm>
          <a:prstGeom prst="rect">
            <a:avLst/>
          </a:prstGeom>
          <a:solidFill>
            <a:srgbClr val="238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450799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CONTROLS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910328"/>
            <a:ext cx="4892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8E3"/>
                </a:solidFill>
                <a:latin typeface="Aptos"/>
              </a:rPr>
              <a:t>Understand approvals, compliance, audit and ownership.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343400"/>
            <a:ext cx="5257800" cy="1143000"/>
          </a:xfrm>
          <a:prstGeom prst="roundRect">
            <a:avLst/>
          </a:prstGeom>
          <a:solidFill>
            <a:srgbClr val="182A40"/>
          </a:solidFill>
          <a:ln>
            <a:solidFill>
              <a:srgbClr val="304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4343400"/>
            <a:ext cx="64008" cy="1143000"/>
          </a:xfrm>
          <a:prstGeom prst="rect">
            <a:avLst/>
          </a:prstGeom>
          <a:solidFill>
            <a:srgbClr val="43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450799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PRIORITIES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4910328"/>
            <a:ext cx="4892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8E3"/>
                </a:solidFill>
                <a:latin typeface="Aptos"/>
              </a:rPr>
              <a:t>Agree the highest-value journeys for the first release.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89788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Output → a validated Atiat ecosystem map + prioritized SynBot roadmap.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6A5B4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92330"/>
                </a:solidFill>
                <a:latin typeface="Aptos"/>
              </a:rPr>
              <a:t>Designed to work with Atiat’s technology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977"/>
                </a:solidFill>
                <a:latin typeface="Aptos"/>
              </a:rPr>
              <a:t>We see specialist roles as complementary, not competing.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32918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64008" cy="3291840"/>
          </a:xfrm>
          <a:prstGeom prst="rect">
            <a:avLst/>
          </a:prstGeom>
          <a:solidFill>
            <a:srgbClr val="43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9019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330"/>
                </a:solidFill>
                <a:latin typeface="Aptos"/>
              </a:rPr>
              <a:t>Qantra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304288"/>
            <a:ext cx="292608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977"/>
                </a:solidFill>
                <a:latin typeface="Aptos"/>
              </a:rPr>
              <a:t>Infrastructure • cloud • IT strategy • managed services • digital platforms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2918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737360"/>
            <a:ext cx="64008" cy="3291840"/>
          </a:xfrm>
          <a:prstGeom prst="rect">
            <a:avLst/>
          </a:prstGeom>
          <a:solidFill>
            <a:srgbClr val="238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9019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330"/>
                </a:solidFill>
                <a:latin typeface="Aptos"/>
              </a:rPr>
              <a:t>NeuroLayer / SynBot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304288"/>
            <a:ext cx="292608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977"/>
                </a:solidFill>
                <a:latin typeface="Aptos"/>
              </a:rPr>
              <a:t>AI • automation • intelligent workflows • document intelligence • orchestration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737360"/>
            <a:ext cx="32918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737360"/>
            <a:ext cx="64008" cy="3291840"/>
          </a:xfrm>
          <a:prstGeom prst="rect">
            <a:avLst/>
          </a:prstGeom>
          <a:solidFill>
            <a:srgbClr val="D3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9019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330"/>
                </a:solidFill>
                <a:latin typeface="Aptos"/>
              </a:rPr>
              <a:t>Atiat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2304288"/>
            <a:ext cx="292608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977"/>
                </a:solidFill>
                <a:latin typeface="Aptos"/>
              </a:rPr>
              <a:t>Business ownership • product decisions • operational processes • customer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53212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D6977"/>
                </a:solidFill>
                <a:latin typeface="Aptos"/>
              </a:rPr>
              <a:t>The exact boundary and governance model will be validated with Atiat and Qantra stakeholders.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D6977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A practical path from discovery to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CAD7"/>
                </a:solidFill>
                <a:latin typeface="Aptos"/>
              </a:rPr>
              <a:t>Start focused, prove value, then expand across the ecosystem.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4519"/>
            <a:ext cx="2057400" cy="2468880"/>
          </a:xfrm>
          <a:prstGeom prst="roundRect">
            <a:avLst/>
          </a:prstGeom>
          <a:solidFill>
            <a:srgbClr val="182A40"/>
          </a:solidFill>
          <a:ln>
            <a:solidFill>
              <a:srgbClr val="304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64008" cy="2468880"/>
          </a:xfrm>
          <a:prstGeom prst="rect">
            <a:avLst/>
          </a:prstGeom>
          <a:solidFill>
            <a:srgbClr val="238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03911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441448"/>
            <a:ext cx="169164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8E3"/>
                </a:solidFill>
                <a:latin typeface="Aptos"/>
              </a:rPr>
              <a:t>Business + process +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727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AB9C8"/>
                </a:solidFill>
                <a:latin typeface="Aptos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1874519"/>
            <a:ext cx="2057400" cy="2468880"/>
          </a:xfrm>
          <a:prstGeom prst="roundRect">
            <a:avLst/>
          </a:prstGeom>
          <a:solidFill>
            <a:srgbClr val="182A40"/>
          </a:solidFill>
          <a:ln>
            <a:solidFill>
              <a:srgbClr val="304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39" y="1874519"/>
            <a:ext cx="64008" cy="2468880"/>
          </a:xfrm>
          <a:prstGeom prst="rect">
            <a:avLst/>
          </a:prstGeom>
          <a:solidFill>
            <a:srgbClr val="43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203911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PRIORITIZE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441448"/>
            <a:ext cx="169164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8E3"/>
                </a:solidFill>
                <a:latin typeface="Aptos"/>
              </a:rPr>
              <a:t>Select 2–3 high-value journeys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799" y="15727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AB9C8"/>
                </a:solidFill>
                <a:latin typeface="Aptos"/>
              </a:rP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1874519"/>
            <a:ext cx="2057400" cy="2468880"/>
          </a:xfrm>
          <a:prstGeom prst="roundRect">
            <a:avLst/>
          </a:prstGeom>
          <a:solidFill>
            <a:srgbClr val="182A40"/>
          </a:solidFill>
          <a:ln>
            <a:solidFill>
              <a:srgbClr val="304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66359" y="1874519"/>
            <a:ext cx="64008" cy="2468880"/>
          </a:xfrm>
          <a:prstGeom prst="rect">
            <a:avLst/>
          </a:prstGeom>
          <a:solidFill>
            <a:srgbClr val="D3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7527" y="203911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PROTOTYPE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7" y="2441448"/>
            <a:ext cx="169164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8E3"/>
                </a:solidFill>
                <a:latin typeface="Aptos"/>
              </a:rPr>
              <a:t>Customer experience +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5727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AB9C8"/>
                </a:solidFill>
                <a:latin typeface="Aptos"/>
              </a:rP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874519"/>
            <a:ext cx="2057400" cy="2468880"/>
          </a:xfrm>
          <a:prstGeom prst="roundRect">
            <a:avLst/>
          </a:prstGeom>
          <a:solidFill>
            <a:srgbClr val="182A40"/>
          </a:solidFill>
          <a:ln>
            <a:solidFill>
              <a:srgbClr val="304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1874519"/>
            <a:ext cx="64008" cy="2468880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203911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441448"/>
            <a:ext cx="169164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8E3"/>
                </a:solidFill>
                <a:latin typeface="Aptos"/>
              </a:rPr>
              <a:t>Integrate with real systems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15727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AB9C8"/>
                </a:solidFill>
                <a:latin typeface="Aptos"/>
              </a:rP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1874519"/>
            <a:ext cx="2057400" cy="2468880"/>
          </a:xfrm>
          <a:prstGeom prst="roundRect">
            <a:avLst/>
          </a:prstGeom>
          <a:solidFill>
            <a:srgbClr val="182A40"/>
          </a:solidFill>
          <a:ln>
            <a:solidFill>
              <a:srgbClr val="304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29800" y="1874519"/>
            <a:ext cx="64008" cy="2468880"/>
          </a:xfrm>
          <a:prstGeom prst="rect">
            <a:avLst/>
          </a:prstGeom>
          <a:solidFill>
            <a:srgbClr val="238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30968" y="203911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30968" y="2441448"/>
            <a:ext cx="169164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8E3"/>
                </a:solidFill>
                <a:latin typeface="Aptos"/>
              </a:rPr>
              <a:t>Add subsidiaries, agents and channels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15727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AB9C8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16636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Guiding principle: build the reusable core once; add business capabilities as modular services.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6A5B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92330"/>
                </a:solidFill>
                <a:latin typeface="Aptos"/>
              </a:rPr>
              <a:t>What we need from today’s conversation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977"/>
                </a:solidFill>
                <a:latin typeface="Aptos"/>
              </a:rPr>
              <a:t>A working session — not a technical sign-off.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57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64008" cy="3566160"/>
          </a:xfrm>
          <a:prstGeom prst="rect">
            <a:avLst/>
          </a:prstGeom>
          <a:solidFill>
            <a:srgbClr val="238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6479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330"/>
                </a:solidFill>
                <a:latin typeface="Aptos"/>
              </a:rPr>
              <a:t>We want to 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67128"/>
            <a:ext cx="489204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977"/>
                </a:solidFill>
                <a:latin typeface="Aptos"/>
              </a:rPr>
              <a:t>• Which services matter most to customers?</a:t>
            </a:r>
            <a:br/>
            <a:r>
              <a:t>• Which processes are currently manual or slow?</a:t>
            </a:r>
            <a:br/>
            <a:r>
              <a:t>• What systems run each subsidiary?</a:t>
            </a:r>
            <a:br/>
            <a:r>
              <a:t>• Where does data live?</a:t>
            </a:r>
            <a:br/>
            <a:r>
              <a:t>• What must remain controlled by staff?</a:t>
            </a:r>
            <a:br/>
            <a:r>
              <a:t>• What does success look like?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5257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00200"/>
            <a:ext cx="64008" cy="3566160"/>
          </a:xfrm>
          <a:prstGeom prst="rect">
            <a:avLst/>
          </a:prstGeom>
          <a:solidFill>
            <a:srgbClr val="43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76479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330"/>
                </a:solidFill>
                <a:latin typeface="Aptos"/>
              </a:rPr>
              <a:t>We want to leave with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167128"/>
            <a:ext cx="489204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977"/>
                </a:solidFill>
                <a:latin typeface="Aptos"/>
              </a:rPr>
              <a:t>• Agreed discovery participants</a:t>
            </a:r>
            <a:br/>
            <a:r>
              <a:t>• Department walkthroughs</a:t>
            </a:r>
            <a:br/>
            <a:r>
              <a:t>• Priority customer journeys</a:t>
            </a:r>
            <a:br/>
            <a:r>
              <a:t>• System/integration contacts</a:t>
            </a:r>
            <a:br/>
            <a:r>
              <a:t>• Constraints and governance requirements</a:t>
            </a:r>
            <a:br/>
            <a:r>
              <a:t>• A clear first-release candidate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715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92330"/>
                </a:solidFill>
                <a:latin typeface="Aptos"/>
              </a:rPr>
              <a:t>Next step: spend focused time with the people who operate each journey every 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D6977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8075"/>
                </a:solidFill>
                <a:latin typeface="Aptos"/>
              </a:rPr>
              <a:t>The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50876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00" b="1">
                <a:solidFill>
                  <a:srgbClr val="F8FAFC"/>
                </a:solidFill>
                <a:latin typeface="Aptos"/>
              </a:rPr>
              <a:t>Make Atiat’s ecosystem feel like</a:t>
            </a:r>
            <a:br/>
            <a:r>
              <a:t>one intelligent service.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33756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C6D2DE"/>
                </a:solidFill>
                <a:latin typeface="Aptos"/>
              </a:rPr>
              <a:t>Customers see simplicity.</a:t>
            </a:r>
            <a:br/>
            <a:r>
              <a:t>Teams keep control.</a:t>
            </a:r>
            <a:br/>
            <a:r>
              <a:t>Atiat gains a platform that can grow.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7150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369B2"/>
                </a:solidFill>
                <a:latin typeface="Aptos"/>
              </a:rPr>
              <a:t>DISCOVER → DESIGN → BUILD →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6A5B4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